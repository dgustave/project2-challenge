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7" r:id="rId1"/>
  </p:sldMasterIdLst>
  <p:notesMasterIdLst>
    <p:notesMasterId r:id="rId11"/>
  </p:notesMasterIdLst>
  <p:sldIdLst>
    <p:sldId id="256" r:id="rId2"/>
    <p:sldId id="257" r:id="rId3"/>
    <p:sldId id="258" r:id="rId4"/>
    <p:sldId id="259" r:id="rId5"/>
    <p:sldId id="260" r:id="rId6"/>
    <p:sldId id="265" r:id="rId7"/>
    <p:sldId id="263" r:id="rId8"/>
    <p:sldId id="264"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0FDB78-25E0-4EA5-9D3F-164546FBAE30}" v="504" dt="2020-10-17T14:48:26.107"/>
    <p1510:client id="{63F1752C-ABCB-4255-9EC2-DEFE166E72FB}" v="84" dt="2020-10-17T01:28:00.357"/>
    <p1510:client id="{EE34BC99-77F4-4525-BC5E-87D993D3EDFB}" v="106" dt="2020-10-16T22:39:48.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070" autoAdjust="0"/>
  </p:normalViewPr>
  <p:slideViewPr>
    <p:cSldViewPr snapToGrid="0">
      <p:cViewPr varScale="1">
        <p:scale>
          <a:sx n="66" d="100"/>
          <a:sy n="66" d="100"/>
        </p:scale>
        <p:origin x="1230" y="60"/>
      </p:cViewPr>
      <p:guideLst/>
    </p:cSldViewPr>
  </p:slideViewPr>
  <p:notesTextViewPr>
    <p:cViewPr>
      <p:scale>
        <a:sx n="176" d="100"/>
        <a:sy n="17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E7CB73-24EA-4A38-9624-CF3356A7311E}"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E17AC1C-CFBB-48CC-B79F-A05B1BA0601D}">
      <dgm:prSet/>
      <dgm:spPr/>
      <dgm:t>
        <a:bodyPr/>
        <a:lstStyle/>
        <a:p>
          <a:r>
            <a:rPr lang="en-US" dirty="0"/>
            <a:t>We will provide you with the top 3 stocks of each sector with the Best Value, Fastest Growth and Most Momentum.</a:t>
          </a:r>
        </a:p>
      </dgm:t>
    </dgm:pt>
    <dgm:pt modelId="{84352ED2-7F48-44EB-9827-C9BDBDA9FF2E}" type="parTrans" cxnId="{FB0B9EC9-D5BC-4C11-AB93-494FF59B2F14}">
      <dgm:prSet/>
      <dgm:spPr/>
      <dgm:t>
        <a:bodyPr/>
        <a:lstStyle/>
        <a:p>
          <a:endParaRPr lang="en-US"/>
        </a:p>
      </dgm:t>
    </dgm:pt>
    <dgm:pt modelId="{E504DA21-EA28-40FB-BFED-B2620A7F5F78}" type="sibTrans" cxnId="{FB0B9EC9-D5BC-4C11-AB93-494FF59B2F14}">
      <dgm:prSet/>
      <dgm:spPr/>
      <dgm:t>
        <a:bodyPr/>
        <a:lstStyle/>
        <a:p>
          <a:endParaRPr lang="en-US"/>
        </a:p>
      </dgm:t>
    </dgm:pt>
    <dgm:pt modelId="{01DA5F28-DB67-4E06-B9F9-97E95A136136}">
      <dgm:prSet/>
      <dgm:spPr/>
      <dgm:t>
        <a:bodyPr/>
        <a:lstStyle/>
        <a:p>
          <a:r>
            <a:rPr lang="en-US" dirty="0"/>
            <a:t>The S&amp;P only provides the top 10 companies on their website.</a:t>
          </a:r>
        </a:p>
      </dgm:t>
    </dgm:pt>
    <dgm:pt modelId="{E14EF84D-9940-4B71-8662-9CC2261BD352}" type="parTrans" cxnId="{718DD4E3-A5BF-41D6-8653-D945AAD74106}">
      <dgm:prSet/>
      <dgm:spPr/>
      <dgm:t>
        <a:bodyPr/>
        <a:lstStyle/>
        <a:p>
          <a:endParaRPr lang="en-US"/>
        </a:p>
      </dgm:t>
    </dgm:pt>
    <dgm:pt modelId="{268E1E64-8C47-4C64-8585-9C923EE53B50}" type="sibTrans" cxnId="{718DD4E3-A5BF-41D6-8653-D945AAD74106}">
      <dgm:prSet/>
      <dgm:spPr/>
      <dgm:t>
        <a:bodyPr/>
        <a:lstStyle/>
        <a:p>
          <a:endParaRPr lang="en-US"/>
        </a:p>
      </dgm:t>
    </dgm:pt>
    <dgm:pt modelId="{01117137-14A7-4AEC-B9DE-237BBC29148D}" type="pres">
      <dgm:prSet presAssocID="{45E7CB73-24EA-4A38-9624-CF3356A7311E}" presName="hierChild1" presStyleCnt="0">
        <dgm:presLayoutVars>
          <dgm:chPref val="1"/>
          <dgm:dir/>
          <dgm:animOne val="branch"/>
          <dgm:animLvl val="lvl"/>
          <dgm:resizeHandles/>
        </dgm:presLayoutVars>
      </dgm:prSet>
      <dgm:spPr/>
    </dgm:pt>
    <dgm:pt modelId="{D8BF4302-5443-421A-8084-A9989063DDFF}" type="pres">
      <dgm:prSet presAssocID="{01DA5F28-DB67-4E06-B9F9-97E95A136136}" presName="hierRoot1" presStyleCnt="0"/>
      <dgm:spPr/>
    </dgm:pt>
    <dgm:pt modelId="{1812FA5B-0814-4707-BD2B-2E821F07C87F}" type="pres">
      <dgm:prSet presAssocID="{01DA5F28-DB67-4E06-B9F9-97E95A136136}" presName="composite" presStyleCnt="0"/>
      <dgm:spPr/>
    </dgm:pt>
    <dgm:pt modelId="{94353AFC-ED83-41BA-8BD7-8CAA9264E97A}" type="pres">
      <dgm:prSet presAssocID="{01DA5F28-DB67-4E06-B9F9-97E95A136136}" presName="background" presStyleLbl="node0" presStyleIdx="0" presStyleCnt="2"/>
      <dgm:spPr/>
    </dgm:pt>
    <dgm:pt modelId="{FCEEEA20-BD22-4EEA-886B-248C43DD9C92}" type="pres">
      <dgm:prSet presAssocID="{01DA5F28-DB67-4E06-B9F9-97E95A136136}" presName="text" presStyleLbl="fgAcc0" presStyleIdx="0" presStyleCnt="2">
        <dgm:presLayoutVars>
          <dgm:chPref val="3"/>
        </dgm:presLayoutVars>
      </dgm:prSet>
      <dgm:spPr/>
    </dgm:pt>
    <dgm:pt modelId="{D16F8D71-47DB-4CEF-844C-A4DFCCA9AF03}" type="pres">
      <dgm:prSet presAssocID="{01DA5F28-DB67-4E06-B9F9-97E95A136136}" presName="hierChild2" presStyleCnt="0"/>
      <dgm:spPr/>
    </dgm:pt>
    <dgm:pt modelId="{8DDDC43F-041D-486E-86A1-C7049CA8CA1F}" type="pres">
      <dgm:prSet presAssocID="{0E17AC1C-CFBB-48CC-B79F-A05B1BA0601D}" presName="hierRoot1" presStyleCnt="0"/>
      <dgm:spPr/>
    </dgm:pt>
    <dgm:pt modelId="{D70B1962-7D69-4FFF-B369-AC35A7B59DAE}" type="pres">
      <dgm:prSet presAssocID="{0E17AC1C-CFBB-48CC-B79F-A05B1BA0601D}" presName="composite" presStyleCnt="0"/>
      <dgm:spPr/>
    </dgm:pt>
    <dgm:pt modelId="{2448F26F-E058-44B7-BD9B-E34BBE8D44F4}" type="pres">
      <dgm:prSet presAssocID="{0E17AC1C-CFBB-48CC-B79F-A05B1BA0601D}" presName="background" presStyleLbl="node0" presStyleIdx="1" presStyleCnt="2"/>
      <dgm:spPr/>
    </dgm:pt>
    <dgm:pt modelId="{F0B43889-E747-4490-8C44-2028F7E42A7D}" type="pres">
      <dgm:prSet presAssocID="{0E17AC1C-CFBB-48CC-B79F-A05B1BA0601D}" presName="text" presStyleLbl="fgAcc0" presStyleIdx="1" presStyleCnt="2">
        <dgm:presLayoutVars>
          <dgm:chPref val="3"/>
        </dgm:presLayoutVars>
      </dgm:prSet>
      <dgm:spPr/>
    </dgm:pt>
    <dgm:pt modelId="{A917889A-70C8-4C1C-9743-DB1A288E4246}" type="pres">
      <dgm:prSet presAssocID="{0E17AC1C-CFBB-48CC-B79F-A05B1BA0601D}" presName="hierChild2" presStyleCnt="0"/>
      <dgm:spPr/>
    </dgm:pt>
  </dgm:ptLst>
  <dgm:cxnLst>
    <dgm:cxn modelId="{688B0161-EB02-4740-A3BB-BF7D5057F9DD}" type="presOf" srcId="{45E7CB73-24EA-4A38-9624-CF3356A7311E}" destId="{01117137-14A7-4AEC-B9DE-237BBC29148D}" srcOrd="0" destOrd="0" presId="urn:microsoft.com/office/officeart/2005/8/layout/hierarchy1"/>
    <dgm:cxn modelId="{B25904BE-A9B8-4080-9241-55CB357E3E1C}" type="presOf" srcId="{0E17AC1C-CFBB-48CC-B79F-A05B1BA0601D}" destId="{F0B43889-E747-4490-8C44-2028F7E42A7D}" srcOrd="0" destOrd="0" presId="urn:microsoft.com/office/officeart/2005/8/layout/hierarchy1"/>
    <dgm:cxn modelId="{FB0B9EC9-D5BC-4C11-AB93-494FF59B2F14}" srcId="{45E7CB73-24EA-4A38-9624-CF3356A7311E}" destId="{0E17AC1C-CFBB-48CC-B79F-A05B1BA0601D}" srcOrd="1" destOrd="0" parTransId="{84352ED2-7F48-44EB-9827-C9BDBDA9FF2E}" sibTransId="{E504DA21-EA28-40FB-BFED-B2620A7F5F78}"/>
    <dgm:cxn modelId="{B1B031D2-42A7-4EC3-90B5-2B0408F600BE}" type="presOf" srcId="{01DA5F28-DB67-4E06-B9F9-97E95A136136}" destId="{FCEEEA20-BD22-4EEA-886B-248C43DD9C92}" srcOrd="0" destOrd="0" presId="urn:microsoft.com/office/officeart/2005/8/layout/hierarchy1"/>
    <dgm:cxn modelId="{718DD4E3-A5BF-41D6-8653-D945AAD74106}" srcId="{45E7CB73-24EA-4A38-9624-CF3356A7311E}" destId="{01DA5F28-DB67-4E06-B9F9-97E95A136136}" srcOrd="0" destOrd="0" parTransId="{E14EF84D-9940-4B71-8662-9CC2261BD352}" sibTransId="{268E1E64-8C47-4C64-8585-9C923EE53B50}"/>
    <dgm:cxn modelId="{93810B70-4DD9-4BDD-859C-4B9F5246A5EE}" type="presParOf" srcId="{01117137-14A7-4AEC-B9DE-237BBC29148D}" destId="{D8BF4302-5443-421A-8084-A9989063DDFF}" srcOrd="0" destOrd="0" presId="urn:microsoft.com/office/officeart/2005/8/layout/hierarchy1"/>
    <dgm:cxn modelId="{F8799574-CECB-4D45-BFB5-5686E5F148F6}" type="presParOf" srcId="{D8BF4302-5443-421A-8084-A9989063DDFF}" destId="{1812FA5B-0814-4707-BD2B-2E821F07C87F}" srcOrd="0" destOrd="0" presId="urn:microsoft.com/office/officeart/2005/8/layout/hierarchy1"/>
    <dgm:cxn modelId="{1C0FF4CF-8CC6-4460-A7FF-9685EAA01A13}" type="presParOf" srcId="{1812FA5B-0814-4707-BD2B-2E821F07C87F}" destId="{94353AFC-ED83-41BA-8BD7-8CAA9264E97A}" srcOrd="0" destOrd="0" presId="urn:microsoft.com/office/officeart/2005/8/layout/hierarchy1"/>
    <dgm:cxn modelId="{5E4988BA-A39B-4F9A-BC43-1A73C674E4AE}" type="presParOf" srcId="{1812FA5B-0814-4707-BD2B-2E821F07C87F}" destId="{FCEEEA20-BD22-4EEA-886B-248C43DD9C92}" srcOrd="1" destOrd="0" presId="urn:microsoft.com/office/officeart/2005/8/layout/hierarchy1"/>
    <dgm:cxn modelId="{CFC1BAE3-AC94-4C4E-9FBE-B80E0A18BF16}" type="presParOf" srcId="{D8BF4302-5443-421A-8084-A9989063DDFF}" destId="{D16F8D71-47DB-4CEF-844C-A4DFCCA9AF03}" srcOrd="1" destOrd="0" presId="urn:microsoft.com/office/officeart/2005/8/layout/hierarchy1"/>
    <dgm:cxn modelId="{AD0362D0-DB80-40E4-9BC4-011B17DBDB37}" type="presParOf" srcId="{01117137-14A7-4AEC-B9DE-237BBC29148D}" destId="{8DDDC43F-041D-486E-86A1-C7049CA8CA1F}" srcOrd="1" destOrd="0" presId="urn:microsoft.com/office/officeart/2005/8/layout/hierarchy1"/>
    <dgm:cxn modelId="{B05E9609-0968-42FB-AA41-80EDD94BB8F5}" type="presParOf" srcId="{8DDDC43F-041D-486E-86A1-C7049CA8CA1F}" destId="{D70B1962-7D69-4FFF-B369-AC35A7B59DAE}" srcOrd="0" destOrd="0" presId="urn:microsoft.com/office/officeart/2005/8/layout/hierarchy1"/>
    <dgm:cxn modelId="{954B09AD-9D4D-480F-91E5-D7FF8D766B0E}" type="presParOf" srcId="{D70B1962-7D69-4FFF-B369-AC35A7B59DAE}" destId="{2448F26F-E058-44B7-BD9B-E34BBE8D44F4}" srcOrd="0" destOrd="0" presId="urn:microsoft.com/office/officeart/2005/8/layout/hierarchy1"/>
    <dgm:cxn modelId="{4144C65D-A305-4A69-9FDB-43BB95877153}" type="presParOf" srcId="{D70B1962-7D69-4FFF-B369-AC35A7B59DAE}" destId="{F0B43889-E747-4490-8C44-2028F7E42A7D}" srcOrd="1" destOrd="0" presId="urn:microsoft.com/office/officeart/2005/8/layout/hierarchy1"/>
    <dgm:cxn modelId="{6ACB9419-379C-4246-BD6D-D887FBB018A0}" type="presParOf" srcId="{8DDDC43F-041D-486E-86A1-C7049CA8CA1F}" destId="{A917889A-70C8-4C1C-9743-DB1A288E424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353AFC-ED83-41BA-8BD7-8CAA9264E97A}">
      <dsp:nvSpPr>
        <dsp:cNvPr id="0" name=""/>
        <dsp:cNvSpPr/>
      </dsp:nvSpPr>
      <dsp:spPr>
        <a:xfrm>
          <a:off x="1097" y="848957"/>
          <a:ext cx="3850974" cy="244536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EEEA20-BD22-4EEA-886B-248C43DD9C92}">
      <dsp:nvSpPr>
        <dsp:cNvPr id="0" name=""/>
        <dsp:cNvSpPr/>
      </dsp:nvSpPr>
      <dsp:spPr>
        <a:xfrm>
          <a:off x="428983" y="1255448"/>
          <a:ext cx="3850974" cy="244536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The S&amp;P only provides the top 10 companies on their website.</a:t>
          </a:r>
        </a:p>
      </dsp:txBody>
      <dsp:txXfrm>
        <a:off x="500605" y="1327070"/>
        <a:ext cx="3707730" cy="2302124"/>
      </dsp:txXfrm>
    </dsp:sp>
    <dsp:sp modelId="{2448F26F-E058-44B7-BD9B-E34BBE8D44F4}">
      <dsp:nvSpPr>
        <dsp:cNvPr id="0" name=""/>
        <dsp:cNvSpPr/>
      </dsp:nvSpPr>
      <dsp:spPr>
        <a:xfrm>
          <a:off x="4707844" y="848957"/>
          <a:ext cx="3850974" cy="244536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B43889-E747-4490-8C44-2028F7E42A7D}">
      <dsp:nvSpPr>
        <dsp:cNvPr id="0" name=""/>
        <dsp:cNvSpPr/>
      </dsp:nvSpPr>
      <dsp:spPr>
        <a:xfrm>
          <a:off x="5135730" y="1255448"/>
          <a:ext cx="3850974" cy="244536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We will provide you with the top 3 stocks of each sector with the Best Value, Fastest Growth and Most Momentum.</a:t>
          </a:r>
        </a:p>
      </dsp:txBody>
      <dsp:txXfrm>
        <a:off x="5207352" y="1327070"/>
        <a:ext cx="3707730" cy="23021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C9831-75A4-4C61-9EEE-2C46933487FF}" type="datetimeFigureOut">
              <a:rPr lang="en-US" smtClean="0"/>
              <a:t>10/18/2020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D29EC-4F26-4FC9-9B8D-D231DC38894B}" type="slidenum">
              <a:rPr lang="en-US" smtClean="0"/>
              <a:t>‹#›</a:t>
            </a:fld>
            <a:endParaRPr lang="en-US"/>
          </a:p>
        </p:txBody>
      </p:sp>
    </p:spTree>
    <p:extLst>
      <p:ext uri="{BB962C8B-B14F-4D97-AF65-F5344CB8AC3E}">
        <p14:creationId xmlns:p14="http://schemas.microsoft.com/office/powerpoint/2010/main" val="939070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Pentagon, and we created a tool to help novice investors navigate the S&amp;P 500.</a:t>
            </a:r>
          </a:p>
        </p:txBody>
      </p:sp>
      <p:sp>
        <p:nvSpPr>
          <p:cNvPr id="4" name="Slide Number Placeholder 3"/>
          <p:cNvSpPr>
            <a:spLocks noGrp="1"/>
          </p:cNvSpPr>
          <p:nvPr>
            <p:ph type="sldNum" sz="quarter" idx="5"/>
          </p:nvPr>
        </p:nvSpPr>
        <p:spPr/>
        <p:txBody>
          <a:bodyPr/>
          <a:lstStyle/>
          <a:p>
            <a:fld id="{6C6D29EC-4F26-4FC9-9B8D-D231DC38894B}" type="slidenum">
              <a:rPr lang="en-US" smtClean="0"/>
              <a:t>1</a:t>
            </a:fld>
            <a:endParaRPr lang="en-US"/>
          </a:p>
        </p:txBody>
      </p:sp>
    </p:spTree>
    <p:extLst>
      <p:ext uri="{BB962C8B-B14F-4D97-AF65-F5344CB8AC3E}">
        <p14:creationId xmlns:p14="http://schemas.microsoft.com/office/powerpoint/2010/main" val="2523112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also known as the Standard &amp; Poor's 500 Index. It is a market-capitalization-weighted index of the 500 largest publicly traded companies in the 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Because of that (it represents the largest publicly traded companies in the U.S.) it is one of the most widely quoted stock market indexes.</a:t>
            </a:r>
            <a:endParaRPr lang="en-US">
              <a:cs typeface="Calibri"/>
            </a:endParaRPr>
          </a:p>
        </p:txBody>
      </p:sp>
      <p:sp>
        <p:nvSpPr>
          <p:cNvPr id="4" name="Slide Number Placeholder 3"/>
          <p:cNvSpPr>
            <a:spLocks noGrp="1"/>
          </p:cNvSpPr>
          <p:nvPr>
            <p:ph type="sldNum" sz="quarter" idx="5"/>
          </p:nvPr>
        </p:nvSpPr>
        <p:spPr/>
        <p:txBody>
          <a:bodyPr/>
          <a:lstStyle/>
          <a:p>
            <a:fld id="{6C6D29EC-4F26-4FC9-9B8D-D231DC38894B}" type="slidenum">
              <a:rPr lang="en-US" smtClean="0"/>
              <a:t>2</a:t>
            </a:fld>
            <a:endParaRPr lang="en-US"/>
          </a:p>
        </p:txBody>
      </p:sp>
    </p:spTree>
    <p:extLst>
      <p:ext uri="{BB962C8B-B14F-4D97-AF65-F5344CB8AC3E}">
        <p14:creationId xmlns:p14="http://schemas.microsoft.com/office/powerpoint/2010/main" val="3337670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500 stocks in the index are divided into 11 sectors, each of them consisting of companies in the same or related industries.</a:t>
            </a:r>
          </a:p>
        </p:txBody>
      </p:sp>
      <p:sp>
        <p:nvSpPr>
          <p:cNvPr id="4" name="Slide Number Placeholder 3"/>
          <p:cNvSpPr>
            <a:spLocks noGrp="1"/>
          </p:cNvSpPr>
          <p:nvPr>
            <p:ph type="sldNum" sz="quarter" idx="5"/>
          </p:nvPr>
        </p:nvSpPr>
        <p:spPr/>
        <p:txBody>
          <a:bodyPr/>
          <a:lstStyle/>
          <a:p>
            <a:fld id="{6C6D29EC-4F26-4FC9-9B8D-D231DC38894B}" type="slidenum">
              <a:rPr lang="en-US" smtClean="0"/>
              <a:t>3</a:t>
            </a:fld>
            <a:endParaRPr lang="en-US"/>
          </a:p>
        </p:txBody>
      </p:sp>
    </p:spTree>
    <p:extLst>
      <p:ext uri="{BB962C8B-B14F-4D97-AF65-F5344CB8AC3E}">
        <p14:creationId xmlns:p14="http://schemas.microsoft.com/office/powerpoint/2010/main" val="1195580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S&amp;P does not currently provide the total list of all 500 companies on its website, outside of the top 10 at no additional cost.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we thought we will provide you with the top 3 stocks of each sector with the Best Value, Fastest Growth and Most Momentum.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Best Value Stocks:</a:t>
            </a:r>
            <a:br>
              <a:rPr lang="en-US" sz="2000" dirty="0"/>
            </a:br>
            <a:r>
              <a:rPr lang="en-US" sz="1200" b="0" i="0" dirty="0">
                <a:solidFill>
                  <a:srgbClr val="111111"/>
                </a:solidFill>
                <a:effectLst/>
                <a:latin typeface="SourceSansPro"/>
              </a:rPr>
              <a:t>These are the stocks with the lowest 12-month trailing price-to-earnings (P/E) ratio.  </a:t>
            </a:r>
            <a:br>
              <a:rPr lang="en-US" sz="1200" b="0" i="0" dirty="0">
                <a:solidFill>
                  <a:srgbClr val="111111"/>
                </a:solidFill>
                <a:effectLst/>
                <a:latin typeface="SourceSansPro"/>
              </a:rPr>
            </a:br>
            <a:r>
              <a:rPr lang="en-US" sz="2400" b="1" i="0" dirty="0">
                <a:solidFill>
                  <a:srgbClr val="111111"/>
                </a:solidFill>
                <a:effectLst/>
              </a:rPr>
              <a:t>Fastest Growing Stocks:</a:t>
            </a:r>
            <a:br>
              <a:rPr lang="en-US" sz="2400" i="0" dirty="0">
                <a:solidFill>
                  <a:srgbClr val="111111"/>
                </a:solidFill>
                <a:effectLst/>
                <a:latin typeface="SourceSansPro"/>
              </a:rPr>
            </a:br>
            <a:r>
              <a:rPr lang="en-US" sz="1200" b="0" i="0" dirty="0">
                <a:solidFill>
                  <a:srgbClr val="111111"/>
                </a:solidFill>
                <a:effectLst/>
                <a:latin typeface="SourceSansPro"/>
              </a:rPr>
              <a:t>These are the stocks with the highest year-over-year (YOY) earning per share growth.</a:t>
            </a:r>
            <a:br>
              <a:rPr lang="en-US" sz="1200" b="0" i="0" dirty="0">
                <a:solidFill>
                  <a:srgbClr val="111111"/>
                </a:solidFill>
                <a:effectLst/>
                <a:latin typeface="SourceSansPro"/>
              </a:rPr>
            </a:br>
            <a:r>
              <a:rPr lang="en-US" sz="2400" b="1" i="0" dirty="0">
                <a:solidFill>
                  <a:srgbClr val="111111"/>
                </a:solidFill>
                <a:effectLst/>
              </a:rPr>
              <a:t>Stocks with the Most Momentum:</a:t>
            </a:r>
            <a:br>
              <a:rPr lang="en-US" sz="1200" b="0" i="0" dirty="0">
                <a:solidFill>
                  <a:srgbClr val="111111"/>
                </a:solidFill>
                <a:effectLst/>
                <a:latin typeface="SourceSansPro"/>
              </a:rPr>
            </a:br>
            <a:r>
              <a:rPr lang="en-US" sz="1200" b="0" i="0" dirty="0">
                <a:solidFill>
                  <a:srgbClr val="111111"/>
                </a:solidFill>
                <a:effectLst/>
                <a:latin typeface="SourceSansPro"/>
              </a:rPr>
              <a:t>These are the stocks that had the highest total return over the last 12 months.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1D1C1D"/>
                </a:solidFill>
                <a:effectLst/>
                <a:latin typeface="Slack-Lato"/>
              </a:rPr>
              <a:t>there is historic data and a report generated as a point of  reference. and just show it</a:t>
            </a:r>
            <a:endParaRPr lang="en-US" sz="1200" b="0" i="0" dirty="0">
              <a:solidFill>
                <a:srgbClr val="111111"/>
              </a:solidFill>
              <a:effectLst/>
              <a:latin typeface="SourceSans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1D1C1D"/>
                </a:solidFill>
                <a:effectLst/>
                <a:latin typeface="Slack-Lato"/>
              </a:rPr>
              <a:t>yup and the information is all coming from the same scrape and </a:t>
            </a:r>
            <a:r>
              <a:rPr lang="en-US" sz="1200" b="0" i="0" dirty="0" err="1">
                <a:solidFill>
                  <a:srgbClr val="1D1C1D"/>
                </a:solidFill>
                <a:effectLst/>
                <a:latin typeface="Slack-Lato"/>
              </a:rPr>
              <a:t>mongodb</a:t>
            </a:r>
            <a:r>
              <a:rPr lang="en-US" sz="1200" b="0" i="0" dirty="0">
                <a:solidFill>
                  <a:srgbClr val="1D1C1D"/>
                </a:solidFill>
                <a:effectLst/>
                <a:latin typeface="Slack-Lato"/>
              </a:rPr>
              <a:t> </a:t>
            </a:r>
            <a:r>
              <a:rPr lang="en-US" sz="1200" b="0" i="0" dirty="0" err="1">
                <a:solidFill>
                  <a:srgbClr val="1D1C1D"/>
                </a:solidFill>
                <a:effectLst/>
                <a:latin typeface="Slack-Lato"/>
              </a:rPr>
              <a:t>db</a:t>
            </a:r>
            <a:br>
              <a:rPr lang="en-US" sz="1000" b="0" i="0" dirty="0">
                <a:solidFill>
                  <a:srgbClr val="111111"/>
                </a:solidFill>
                <a:effectLst/>
                <a:latin typeface="SourceSansPro"/>
              </a:rPr>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6C6D29EC-4F26-4FC9-9B8D-D231DC38894B}" type="slidenum">
              <a:rPr lang="en-US" smtClean="0"/>
              <a:t>4</a:t>
            </a:fld>
            <a:endParaRPr lang="en-US"/>
          </a:p>
        </p:txBody>
      </p:sp>
    </p:spTree>
    <p:extLst>
      <p:ext uri="{BB962C8B-B14F-4D97-AF65-F5344CB8AC3E}">
        <p14:creationId xmlns:p14="http://schemas.microsoft.com/office/powerpoint/2010/main" val="2045650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111111"/>
                </a:solidFill>
                <a:latin typeface="Meiryo" panose="020B0604030504040204" pitchFamily="34" charset="-128"/>
                <a:ea typeface="Meiryo" panose="020B0604030504040204" pitchFamily="34" charset="-128"/>
              </a:rPr>
              <a:t>Another tool we thought we could provide you with would be a candle stick chart. This is used</a:t>
            </a:r>
            <a:r>
              <a:rPr lang="en-US" b="0" i="0" dirty="0">
                <a:solidFill>
                  <a:srgbClr val="111111"/>
                </a:solidFill>
                <a:effectLst/>
                <a:latin typeface="Meiryo" panose="020B0604030504040204" pitchFamily="34" charset="-128"/>
                <a:ea typeface="Meiryo" panose="020B0604030504040204" pitchFamily="34" charset="-128"/>
              </a:rPr>
              <a:t> by traders to determine possible price movement based on past patterns.</a:t>
            </a:r>
          </a:p>
          <a:p>
            <a:r>
              <a:rPr lang="en-US" dirty="0">
                <a:latin typeface="Meiryo" panose="020B0604030504040204" pitchFamily="34" charset="-128"/>
                <a:ea typeface="Meiryo" panose="020B0604030504040204" pitchFamily="34" charset="-128"/>
              </a:rPr>
              <a:t>Each daily candlestick shows the market's open, high, low, and close price each day, and you can see all four point for a specific period.</a:t>
            </a:r>
          </a:p>
          <a:p>
            <a:r>
              <a:rPr lang="en-US" i="1" dirty="0">
                <a:latin typeface="Meiryo" panose="020B0604030504040204" pitchFamily="34" charset="-128"/>
                <a:ea typeface="Meiryo" panose="020B0604030504040204" pitchFamily="34" charset="-128"/>
              </a:rPr>
              <a:t>Show Candlestick graph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eiryo" panose="020B0604030504040204" pitchFamily="34" charset="-128"/>
                <a:ea typeface="Meiryo" panose="020B0604030504040204" pitchFamily="34" charset="-128"/>
              </a:rPr>
              <a:t>The candlestick has a wide part, which is called the "real body.“</a:t>
            </a:r>
          </a:p>
          <a:p>
            <a:r>
              <a:rPr lang="en-US" dirty="0">
                <a:latin typeface="Meiryo" panose="020B0604030504040204" pitchFamily="34" charset="-128"/>
                <a:ea typeface="Meiryo" panose="020B0604030504040204" pitchFamily="34" charset="-128"/>
              </a:rPr>
              <a:t>The real body represents the price range between the open and close of that day's trading. When the real body is filled with light gray, it means the close price was lower than the open price. Where the real body is teal, it means the close price was higher than the open price.</a:t>
            </a:r>
          </a:p>
          <a:p>
            <a:r>
              <a:rPr lang="en-US" b="0" i="0" dirty="0">
                <a:solidFill>
                  <a:srgbClr val="222222"/>
                </a:solidFill>
                <a:effectLst/>
                <a:latin typeface="Meiryo" panose="020B0604030504040204" pitchFamily="34" charset="-128"/>
                <a:ea typeface="Meiryo" panose="020B0604030504040204" pitchFamily="34" charset="-128"/>
              </a:rPr>
              <a:t>At the bottom we have the turnover ratio of a stock. This is a measure of sellers versus buyers. It is calculated by dividing the daily volume of a stock by the number of shares available for sale by the general trading public. </a:t>
            </a:r>
          </a:p>
          <a:p>
            <a:r>
              <a:rPr lang="en-US" b="0" i="0" dirty="0">
                <a:solidFill>
                  <a:srgbClr val="222222"/>
                </a:solidFill>
                <a:effectLst/>
                <a:latin typeface="Meiryo" panose="020B0604030504040204" pitchFamily="34" charset="-128"/>
                <a:ea typeface="Meiryo" panose="020B0604030504040204" pitchFamily="34" charset="-128"/>
              </a:rPr>
              <a:t>The v</a:t>
            </a:r>
            <a:r>
              <a:rPr lang="en-US" dirty="0">
                <a:latin typeface="Meiryo" panose="020B0604030504040204" pitchFamily="34" charset="-128"/>
                <a:ea typeface="Meiryo" panose="020B0604030504040204" pitchFamily="34" charset="-128"/>
              </a:rPr>
              <a:t>olatility</a:t>
            </a:r>
            <a:r>
              <a:rPr lang="en-US" b="0" i="0" dirty="0">
                <a:solidFill>
                  <a:srgbClr val="111111"/>
                </a:solidFill>
                <a:effectLst/>
                <a:latin typeface="Meiryo" panose="020B0604030504040204" pitchFamily="34" charset="-128"/>
                <a:ea typeface="Meiryo" panose="020B0604030504040204" pitchFamily="34" charset="-128"/>
              </a:rPr>
              <a:t>  refers to the amount of uncertainty or risk related to the size of changes in a security's value.</a:t>
            </a:r>
            <a:r>
              <a:rPr lang="en-US" dirty="0">
                <a:latin typeface="Meiryo" panose="020B0604030504040204" pitchFamily="34" charset="-128"/>
                <a:ea typeface="Meiryo" panose="020B0604030504040204" pitchFamily="34" charset="-128"/>
              </a:rPr>
              <a:t>  We calculated the </a:t>
            </a:r>
            <a:r>
              <a:rPr lang="en-US" b="0" i="0" dirty="0">
                <a:solidFill>
                  <a:srgbClr val="111111"/>
                </a:solidFill>
                <a:effectLst/>
                <a:latin typeface="Meiryo" panose="020B0604030504040204" pitchFamily="34" charset="-128"/>
                <a:ea typeface="Meiryo" panose="020B0604030504040204" pitchFamily="34" charset="-128"/>
              </a:rPr>
              <a:t>Volatility by obtaining the square root of the variance. </a:t>
            </a:r>
            <a:r>
              <a:rPr lang="en-US" b="0" i="1" dirty="0">
                <a:solidFill>
                  <a:srgbClr val="111111"/>
                </a:solidFill>
                <a:effectLst/>
                <a:latin typeface="Meiryo" panose="020B0604030504040204" pitchFamily="34" charset="-128"/>
                <a:ea typeface="Meiryo" panose="020B0604030504040204" pitchFamily="34" charset="-128"/>
              </a:rPr>
              <a:t>The standard deviation is the square root of the variance. </a:t>
            </a:r>
            <a:endParaRPr lang="en-US" i="1" dirty="0">
              <a:latin typeface="Meiryo" panose="020B0604030504040204" pitchFamily="34" charset="-128"/>
              <a:ea typeface="Meiryo" panose="020B0604030504040204" pitchFamily="34" charset="-128"/>
            </a:endParaRPr>
          </a:p>
          <a:p>
            <a:endParaRPr lang="en-US" dirty="0"/>
          </a:p>
        </p:txBody>
      </p:sp>
      <p:sp>
        <p:nvSpPr>
          <p:cNvPr id="4" name="Slide Number Placeholder 3"/>
          <p:cNvSpPr>
            <a:spLocks noGrp="1"/>
          </p:cNvSpPr>
          <p:nvPr>
            <p:ph type="sldNum" sz="quarter" idx="5"/>
          </p:nvPr>
        </p:nvSpPr>
        <p:spPr/>
        <p:txBody>
          <a:bodyPr/>
          <a:lstStyle/>
          <a:p>
            <a:fld id="{6C6D29EC-4F26-4FC9-9B8D-D231DC38894B}" type="slidenum">
              <a:rPr lang="en-US" smtClean="0"/>
              <a:t>6</a:t>
            </a:fld>
            <a:endParaRPr lang="en-US"/>
          </a:p>
        </p:txBody>
      </p:sp>
    </p:spTree>
    <p:extLst>
      <p:ext uri="{BB962C8B-B14F-4D97-AF65-F5344CB8AC3E}">
        <p14:creationId xmlns:p14="http://schemas.microsoft.com/office/powerpoint/2010/main" val="93228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6D29EC-4F26-4FC9-9B8D-D231DC38894B}" type="slidenum">
              <a:rPr lang="en-US" smtClean="0"/>
              <a:t>8</a:t>
            </a:fld>
            <a:endParaRPr lang="en-US"/>
          </a:p>
        </p:txBody>
      </p:sp>
    </p:spTree>
    <p:extLst>
      <p:ext uri="{BB962C8B-B14F-4D97-AF65-F5344CB8AC3E}">
        <p14:creationId xmlns:p14="http://schemas.microsoft.com/office/powerpoint/2010/main" val="2018260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10/18/2020</a:t>
            </a:fld>
            <a:endParaRPr lang="en-US"/>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3582073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10/18/2020</a:t>
            </a:fld>
            <a:endParaRPr lang="en-US"/>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3910016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10/18/2020</a:t>
            </a:fld>
            <a:endParaRPr lang="en-US"/>
          </a:p>
        </p:txBody>
      </p:sp>
    </p:spTree>
    <p:extLst>
      <p:ext uri="{BB962C8B-B14F-4D97-AF65-F5344CB8AC3E}">
        <p14:creationId xmlns:p14="http://schemas.microsoft.com/office/powerpoint/2010/main" val="817122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10/18/2020</a:t>
            </a:fld>
            <a:endParaRPr lang="en-US"/>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698060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10/18/2020</a:t>
            </a:fld>
            <a:endParaRPr lang="en-US"/>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74331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10/18/2020</a:t>
            </a:fld>
            <a:endParaRPr lang="en-US"/>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424293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10/18/2020</a:t>
            </a:fld>
            <a:endParaRPr lang="en-US"/>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24567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10/18/2020</a:t>
            </a:fld>
            <a:endParaRPr lang="en-US"/>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525979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10/18/2020</a:t>
            </a:fld>
            <a:endParaRPr lang="en-US"/>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2338990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10/18/2020</a:t>
            </a:fld>
            <a:endParaRPr lang="en-US"/>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94772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10/18/2020</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5727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10/18/2020</a:t>
            </a:fld>
            <a:endParaRPr lang="en-US"/>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5308"/>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76" r:id="rId5"/>
    <p:sldLayoutId id="2147483781" r:id="rId6"/>
    <p:sldLayoutId id="2147483777" r:id="rId7"/>
    <p:sldLayoutId id="2147483778" r:id="rId8"/>
    <p:sldLayoutId id="2147483779" r:id="rId9"/>
    <p:sldLayoutId id="2147483780" r:id="rId10"/>
    <p:sldLayoutId id="2147483782"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wsj.com/" TargetMode="External"/><Relationship Id="rId2" Type="http://schemas.openxmlformats.org/officeDocument/2006/relationships/hyperlink" Target="https://www.investopedia.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6FE37137-2057-40B7-9CC7-B3C674D858E0}"/>
              </a:ext>
            </a:extLst>
          </p:cNvPr>
          <p:cNvPicPr>
            <a:picLocks noChangeAspect="1"/>
          </p:cNvPicPr>
          <p:nvPr/>
        </p:nvPicPr>
        <p:blipFill rotWithShape="1">
          <a:blip r:embed="rId3"/>
          <a:srcRect t="11505" r="-1" b="8117"/>
          <a:stretch/>
        </p:blipFill>
        <p:spPr>
          <a:xfrm>
            <a:off x="3048" y="10"/>
            <a:ext cx="12188952" cy="6857990"/>
          </a:xfrm>
          <a:prstGeom prst="rect">
            <a:avLst/>
          </a:prstGeom>
        </p:spPr>
      </p:pic>
      <p:sp>
        <p:nvSpPr>
          <p:cNvPr id="11" name="Freeform: Shape 10">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C87A50C4-1191-461A-9E09-C8057F2AF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035" y="0"/>
            <a:ext cx="2265453" cy="6858000"/>
          </a:xfrm>
          <a:custGeom>
            <a:avLst/>
            <a:gdLst>
              <a:gd name="connsiteX0" fmla="*/ 1117108 w 2265453"/>
              <a:gd name="connsiteY0" fmla="*/ 0 h 6858000"/>
              <a:gd name="connsiteX1" fmla="*/ 1099628 w 2265453"/>
              <a:gd name="connsiteY1" fmla="*/ 0 h 6858000"/>
              <a:gd name="connsiteX2" fmla="*/ 1175238 w 2265453"/>
              <a:gd name="connsiteY2" fmla="*/ 82371 h 6858000"/>
              <a:gd name="connsiteX3" fmla="*/ 2240276 w 2265453"/>
              <a:gd name="connsiteY3" fmla="*/ 3734791 h 6858000"/>
              <a:gd name="connsiteX4" fmla="*/ 274951 w 2265453"/>
              <a:gd name="connsiteY4" fmla="*/ 6634678 h 6858000"/>
              <a:gd name="connsiteX5" fmla="*/ 12802 w 2265453"/>
              <a:gd name="connsiteY5" fmla="*/ 6848127 h 6858000"/>
              <a:gd name="connsiteX6" fmla="*/ 0 w 2265453"/>
              <a:gd name="connsiteY6" fmla="*/ 6858000 h 6858000"/>
              <a:gd name="connsiteX7" fmla="*/ 19410 w 2265453"/>
              <a:gd name="connsiteY7" fmla="*/ 6858000 h 6858000"/>
              <a:gd name="connsiteX8" fmla="*/ 31082 w 2265453"/>
              <a:gd name="connsiteY8" fmla="*/ 6848998 h 6858000"/>
              <a:gd name="connsiteX9" fmla="*/ 293230 w 2265453"/>
              <a:gd name="connsiteY9" fmla="*/ 6635549 h 6858000"/>
              <a:gd name="connsiteX10" fmla="*/ 2258555 w 2265453"/>
              <a:gd name="connsiteY10" fmla="*/ 3735662 h 6858000"/>
              <a:gd name="connsiteX11" fmla="*/ 1193518 w 2265453"/>
              <a:gd name="connsiteY11" fmla="*/ 83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5453" h="6858000">
                <a:moveTo>
                  <a:pt x="1117108" y="0"/>
                </a:moveTo>
                <a:lnTo>
                  <a:pt x="1099628" y="0"/>
                </a:lnTo>
                <a:lnTo>
                  <a:pt x="1175238" y="82371"/>
                </a:lnTo>
                <a:cubicBezTo>
                  <a:pt x="1926546" y="957940"/>
                  <a:pt x="2303836" y="2277119"/>
                  <a:pt x="2240276" y="3734791"/>
                </a:cubicBezTo>
                <a:cubicBezTo>
                  <a:pt x="2176522" y="5196911"/>
                  <a:pt x="1237280" y="5841173"/>
                  <a:pt x="274951" y="6634678"/>
                </a:cubicBezTo>
                <a:cubicBezTo>
                  <a:pt x="187328" y="6706930"/>
                  <a:pt x="100126" y="6778421"/>
                  <a:pt x="12802" y="6848127"/>
                </a:cubicBezTo>
                <a:lnTo>
                  <a:pt x="0" y="6858000"/>
                </a:lnTo>
                <a:lnTo>
                  <a:pt x="19410" y="6858000"/>
                </a:lnTo>
                <a:lnTo>
                  <a:pt x="31082" y="6848998"/>
                </a:lnTo>
                <a:cubicBezTo>
                  <a:pt x="118405" y="6779292"/>
                  <a:pt x="205608" y="6707801"/>
                  <a:pt x="293230" y="6635549"/>
                </a:cubicBezTo>
                <a:cubicBezTo>
                  <a:pt x="1255560" y="5842045"/>
                  <a:pt x="2194802" y="5197782"/>
                  <a:pt x="2258555" y="3735662"/>
                </a:cubicBezTo>
                <a:cubicBezTo>
                  <a:pt x="2322115" y="2277991"/>
                  <a:pt x="1944825" y="958811"/>
                  <a:pt x="1193518" y="83243"/>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03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9" name="Freeform: Shape 18">
            <a:extLst>
              <a:ext uri="{FF2B5EF4-FFF2-40B4-BE49-F238E27FC236}">
                <a16:creationId xmlns:a16="http://schemas.microsoft.com/office/drawing/2014/main" id="{46934B3C-D73F-4CD0-95B1-0244D662D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3292"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6" name="Picture 5" descr="A sign over a fire&#10;&#10;Description automatically generated">
            <a:extLst>
              <a:ext uri="{FF2B5EF4-FFF2-40B4-BE49-F238E27FC236}">
                <a16:creationId xmlns:a16="http://schemas.microsoft.com/office/drawing/2014/main" id="{ADF1B4C2-26CB-4D4F-B4E9-E766B6308808}"/>
              </a:ext>
            </a:extLst>
          </p:cNvPr>
          <p:cNvPicPr>
            <a:picLocks noChangeAspect="1"/>
          </p:cNvPicPr>
          <p:nvPr/>
        </p:nvPicPr>
        <p:blipFill>
          <a:blip r:embed="rId4"/>
          <a:stretch>
            <a:fillRect/>
          </a:stretch>
        </p:blipFill>
        <p:spPr>
          <a:xfrm>
            <a:off x="2908488" y="313462"/>
            <a:ext cx="6019999" cy="6019999"/>
          </a:xfrm>
          <a:prstGeom prst="rect">
            <a:avLst/>
          </a:prstGeom>
        </p:spPr>
      </p:pic>
      <p:sp>
        <p:nvSpPr>
          <p:cNvPr id="2" name="Title 1">
            <a:extLst>
              <a:ext uri="{FF2B5EF4-FFF2-40B4-BE49-F238E27FC236}">
                <a16:creationId xmlns:a16="http://schemas.microsoft.com/office/drawing/2014/main" id="{73885170-7869-4E85-A0CF-52140664BF5C}"/>
              </a:ext>
            </a:extLst>
          </p:cNvPr>
          <p:cNvSpPr>
            <a:spLocks noGrp="1"/>
          </p:cNvSpPr>
          <p:nvPr>
            <p:ph type="ctrTitle"/>
          </p:nvPr>
        </p:nvSpPr>
        <p:spPr>
          <a:xfrm>
            <a:off x="3104308" y="506697"/>
            <a:ext cx="5761759" cy="2478260"/>
          </a:xfrm>
        </p:spPr>
        <p:txBody>
          <a:bodyPr anchor="b">
            <a:normAutofit fontScale="90000"/>
          </a:bodyPr>
          <a:lstStyle/>
          <a:p>
            <a:pPr algn="ctr"/>
            <a:r>
              <a:rPr lang="en-US" sz="7200">
                <a:solidFill>
                  <a:schemeClr val="bg1"/>
                </a:solidFill>
              </a:rPr>
              <a:t>The</a:t>
            </a:r>
            <a:br>
              <a:rPr lang="en-US" sz="7200">
                <a:solidFill>
                  <a:schemeClr val="bg1"/>
                </a:solidFill>
              </a:rPr>
            </a:br>
            <a:r>
              <a:rPr lang="en-US" sz="7200">
                <a:solidFill>
                  <a:schemeClr val="bg1"/>
                </a:solidFill>
              </a:rPr>
              <a:t>S&amp;P 500</a:t>
            </a:r>
          </a:p>
        </p:txBody>
      </p:sp>
      <p:sp>
        <p:nvSpPr>
          <p:cNvPr id="5" name="TextBox 4">
            <a:extLst>
              <a:ext uri="{FF2B5EF4-FFF2-40B4-BE49-F238E27FC236}">
                <a16:creationId xmlns:a16="http://schemas.microsoft.com/office/drawing/2014/main" id="{C33AAA46-6D23-44AF-8CBD-13901F6C449F}"/>
              </a:ext>
            </a:extLst>
          </p:cNvPr>
          <p:cNvSpPr txBox="1"/>
          <p:nvPr/>
        </p:nvSpPr>
        <p:spPr>
          <a:xfrm>
            <a:off x="9659229" y="6333461"/>
            <a:ext cx="2529723" cy="369332"/>
          </a:xfrm>
          <a:prstGeom prst="rect">
            <a:avLst/>
          </a:prstGeom>
          <a:noFill/>
        </p:spPr>
        <p:txBody>
          <a:bodyPr wrap="square" rtlCol="0">
            <a:spAutoFit/>
          </a:bodyPr>
          <a:lstStyle/>
          <a:p>
            <a:pPr algn="ctr"/>
            <a:r>
              <a:rPr lang="en-US"/>
              <a:t>Team Pentagon</a:t>
            </a:r>
          </a:p>
        </p:txBody>
      </p:sp>
    </p:spTree>
    <p:extLst>
      <p:ext uri="{BB962C8B-B14F-4D97-AF65-F5344CB8AC3E}">
        <p14:creationId xmlns:p14="http://schemas.microsoft.com/office/powerpoint/2010/main" val="36878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572E366A-B6DD-4F06-A42A-FF634FDE1B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8839" y="970769"/>
            <a:ext cx="4936895" cy="4669465"/>
            <a:chOff x="648839" y="970769"/>
            <a:chExt cx="4936895" cy="4669465"/>
          </a:xfrm>
        </p:grpSpPr>
        <p:sp>
          <p:nvSpPr>
            <p:cNvPr id="11" name="Freeform: Shape 10">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43803" y="1124162"/>
              <a:ext cx="4691485"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2" y="1290468"/>
              <a:ext cx="438979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48839" y="970769"/>
              <a:ext cx="4936895" cy="466946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A744776-16D4-43A9-A639-E09583939F36}"/>
              </a:ext>
            </a:extLst>
          </p:cNvPr>
          <p:cNvSpPr>
            <a:spLocks noGrp="1"/>
          </p:cNvSpPr>
          <p:nvPr>
            <p:ph type="title"/>
          </p:nvPr>
        </p:nvSpPr>
        <p:spPr>
          <a:xfrm>
            <a:off x="1412543" y="1833229"/>
            <a:ext cx="3577022" cy="2934031"/>
          </a:xfrm>
        </p:spPr>
        <p:txBody>
          <a:bodyPr anchor="ctr">
            <a:normAutofit/>
          </a:bodyPr>
          <a:lstStyle/>
          <a:p>
            <a:r>
              <a:rPr lang="en-US"/>
              <a:t>What is that?</a:t>
            </a:r>
          </a:p>
        </p:txBody>
      </p:sp>
      <p:sp>
        <p:nvSpPr>
          <p:cNvPr id="3" name="Content Placeholder 2">
            <a:extLst>
              <a:ext uri="{FF2B5EF4-FFF2-40B4-BE49-F238E27FC236}">
                <a16:creationId xmlns:a16="http://schemas.microsoft.com/office/drawing/2014/main" id="{AAA6B471-A7DA-46FC-820A-9E24A270EECE}"/>
              </a:ext>
            </a:extLst>
          </p:cNvPr>
          <p:cNvSpPr>
            <a:spLocks noGrp="1"/>
          </p:cNvSpPr>
          <p:nvPr>
            <p:ph idx="1"/>
          </p:nvPr>
        </p:nvSpPr>
        <p:spPr>
          <a:xfrm>
            <a:off x="5900616" y="103031"/>
            <a:ext cx="5986584" cy="6426558"/>
          </a:xfrm>
        </p:spPr>
        <p:txBody>
          <a:bodyPr anchor="ctr">
            <a:normAutofit/>
          </a:bodyPr>
          <a:lstStyle/>
          <a:p>
            <a:pPr marL="342900" indent="-342900">
              <a:buFont typeface="Arial" panose="020B0503020204020204" pitchFamily="34" charset="0"/>
              <a:buChar char="•"/>
            </a:pPr>
            <a:r>
              <a:rPr lang="en-US" sz="2400"/>
              <a:t>Standard &amp; Poor's 500 Index </a:t>
            </a:r>
            <a:endParaRPr lang="en-US"/>
          </a:p>
          <a:p>
            <a:pPr marL="342900" indent="-342900">
              <a:buFont typeface="Arial" panose="020B0503020204020204" pitchFamily="34" charset="0"/>
              <a:buChar char="•"/>
            </a:pPr>
            <a:r>
              <a:rPr lang="en-US" sz="2400"/>
              <a:t>A market-capitalization-weighted index of the 500 largest U.S. publicly traded companies. </a:t>
            </a:r>
            <a:endParaRPr lang="en-US"/>
          </a:p>
          <a:p>
            <a:pPr marL="342900" indent="-342900">
              <a:buFont typeface="Arial" panose="020B0503020204020204" pitchFamily="34" charset="0"/>
              <a:buChar char="•"/>
            </a:pPr>
            <a:r>
              <a:rPr lang="en-US" sz="2400"/>
              <a:t>One of the most widely quoted stock market indexes </a:t>
            </a:r>
            <a:endParaRPr lang="en-US" sz="2400">
              <a:ea typeface="Meiryo"/>
            </a:endParaRPr>
          </a:p>
        </p:txBody>
      </p:sp>
    </p:spTree>
    <p:extLst>
      <p:ext uri="{BB962C8B-B14F-4D97-AF65-F5344CB8AC3E}">
        <p14:creationId xmlns:p14="http://schemas.microsoft.com/office/powerpoint/2010/main" val="4080925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1"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E5B09414-4558-4ABA-BFAA-395F73B60499}"/>
              </a:ext>
            </a:extLst>
          </p:cNvPr>
          <p:cNvSpPr>
            <a:spLocks noGrp="1"/>
          </p:cNvSpPr>
          <p:nvPr>
            <p:ph idx="1"/>
          </p:nvPr>
        </p:nvSpPr>
        <p:spPr>
          <a:xfrm>
            <a:off x="1555859" y="1894660"/>
            <a:ext cx="7371858" cy="3078978"/>
          </a:xfrm>
        </p:spPr>
        <p:txBody>
          <a:bodyPr vert="horz" lIns="109728" tIns="109728" rIns="109728" bIns="91440" rtlCol="0" anchor="t">
            <a:noAutofit/>
          </a:bodyPr>
          <a:lstStyle/>
          <a:p>
            <a:pPr marL="571500" indent="-571500">
              <a:buFont typeface="Arial" panose="020B0503020204020204" pitchFamily="34" charset="0"/>
              <a:buChar char="•"/>
            </a:pPr>
            <a:r>
              <a:rPr lang="en-US" sz="4000"/>
              <a:t>Divided into 11 sectors</a:t>
            </a:r>
            <a:endParaRPr lang="en-US"/>
          </a:p>
          <a:p>
            <a:pPr marL="571500" indent="-571500">
              <a:buFont typeface="Arial" panose="020B0503020204020204" pitchFamily="34" charset="0"/>
              <a:buChar char="•"/>
            </a:pPr>
            <a:r>
              <a:rPr lang="en-US" sz="4000"/>
              <a:t>Grouped by industry or related industries.</a:t>
            </a:r>
            <a:endParaRPr lang="en-US">
              <a:ea typeface="Meiryo"/>
            </a:endParaRPr>
          </a:p>
          <a:p>
            <a:endParaRPr lang="en-US" sz="4000"/>
          </a:p>
        </p:txBody>
      </p:sp>
    </p:spTree>
    <p:extLst>
      <p:ext uri="{BB962C8B-B14F-4D97-AF65-F5344CB8AC3E}">
        <p14:creationId xmlns:p14="http://schemas.microsoft.com/office/powerpoint/2010/main" val="2678894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1" name="Freeform: Shape 10">
            <a:extLst>
              <a:ext uri="{FF2B5EF4-FFF2-40B4-BE49-F238E27FC236}">
                <a16:creationId xmlns:a16="http://schemas.microsoft.com/office/drawing/2014/main" id="{1EC86DB4-572A-4F71-AF8A-2395B4CA7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1435265" cy="6858000"/>
          </a:xfrm>
          <a:custGeom>
            <a:avLst/>
            <a:gdLst>
              <a:gd name="connsiteX0" fmla="*/ 9925983 w 11435265"/>
              <a:gd name="connsiteY0" fmla="*/ 6858000 h 6858000"/>
              <a:gd name="connsiteX1" fmla="*/ 0 w 11435265"/>
              <a:gd name="connsiteY1" fmla="*/ 6858000 h 6858000"/>
              <a:gd name="connsiteX2" fmla="*/ 0 w 11435265"/>
              <a:gd name="connsiteY2" fmla="*/ 0 h 6858000"/>
              <a:gd name="connsiteX3" fmla="*/ 996904 w 11435265"/>
              <a:gd name="connsiteY3" fmla="*/ 0 h 6858000"/>
              <a:gd name="connsiteX4" fmla="*/ 2426875 w 11435265"/>
              <a:gd name="connsiteY4" fmla="*/ 0 h 6858000"/>
              <a:gd name="connsiteX5" fmla="*/ 4014127 w 11435265"/>
              <a:gd name="connsiteY5" fmla="*/ 0 h 6858000"/>
              <a:gd name="connsiteX6" fmla="*/ 4359595 w 11435265"/>
              <a:gd name="connsiteY6" fmla="*/ 0 h 6858000"/>
              <a:gd name="connsiteX7" fmla="*/ 4647960 w 11435265"/>
              <a:gd name="connsiteY7" fmla="*/ 0 h 6858000"/>
              <a:gd name="connsiteX8" fmla="*/ 4691093 w 11435265"/>
              <a:gd name="connsiteY8" fmla="*/ 0 h 6858000"/>
              <a:gd name="connsiteX9" fmla="*/ 5558544 w 11435265"/>
              <a:gd name="connsiteY9" fmla="*/ 0 h 6858000"/>
              <a:gd name="connsiteX10" fmla="*/ 5570664 w 11435265"/>
              <a:gd name="connsiteY10" fmla="*/ 0 h 6858000"/>
              <a:gd name="connsiteX11" fmla="*/ 5695183 w 11435265"/>
              <a:gd name="connsiteY11" fmla="*/ 0 h 6858000"/>
              <a:gd name="connsiteX12" fmla="*/ 7177357 w 11435265"/>
              <a:gd name="connsiteY12" fmla="*/ 0 h 6858000"/>
              <a:gd name="connsiteX13" fmla="*/ 9824163 w 11435265"/>
              <a:gd name="connsiteY13" fmla="*/ 0 h 6858000"/>
              <a:gd name="connsiteX14" fmla="*/ 9846125 w 11435265"/>
              <a:gd name="connsiteY14" fmla="*/ 16892 h 6858000"/>
              <a:gd name="connsiteX15" fmla="*/ 11435265 w 11435265"/>
              <a:gd name="connsiteY15" fmla="*/ 4079318 h 6858000"/>
              <a:gd name="connsiteX16" fmla="*/ 10261404 w 11435265"/>
              <a:gd name="connsiteY16"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5265" h="6858000">
                <a:moveTo>
                  <a:pt x="9925983" y="6858000"/>
                </a:moveTo>
                <a:lnTo>
                  <a:pt x="0" y="6858000"/>
                </a:lnTo>
                <a:lnTo>
                  <a:pt x="0" y="0"/>
                </a:lnTo>
                <a:lnTo>
                  <a:pt x="996904" y="0"/>
                </a:lnTo>
                <a:lnTo>
                  <a:pt x="2426875" y="0"/>
                </a:lnTo>
                <a:lnTo>
                  <a:pt x="4014127" y="0"/>
                </a:lnTo>
                <a:lnTo>
                  <a:pt x="4359595" y="0"/>
                </a:lnTo>
                <a:lnTo>
                  <a:pt x="4647960" y="0"/>
                </a:lnTo>
                <a:lnTo>
                  <a:pt x="4691093" y="0"/>
                </a:lnTo>
                <a:lnTo>
                  <a:pt x="5558544" y="0"/>
                </a:lnTo>
                <a:lnTo>
                  <a:pt x="5570664" y="0"/>
                </a:lnTo>
                <a:lnTo>
                  <a:pt x="5695183" y="0"/>
                </a:lnTo>
                <a:lnTo>
                  <a:pt x="7177357" y="0"/>
                </a:lnTo>
                <a:lnTo>
                  <a:pt x="9824163" y="0"/>
                </a:lnTo>
                <a:lnTo>
                  <a:pt x="9846125" y="16892"/>
                </a:lnTo>
                <a:cubicBezTo>
                  <a:pt x="10865743" y="850004"/>
                  <a:pt x="11435265" y="2357705"/>
                  <a:pt x="11435265" y="4079318"/>
                </a:cubicBezTo>
                <a:cubicBezTo>
                  <a:pt x="11435265" y="5217633"/>
                  <a:pt x="10916694" y="5903717"/>
                  <a:pt x="10261404" y="654244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71BA53A4-C4B7-4189-9FC1-6350B1AB5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332301" y="0"/>
            <a:ext cx="1518348" cy="6858000"/>
          </a:xfrm>
          <a:custGeom>
            <a:avLst/>
            <a:gdLst>
              <a:gd name="connsiteX0" fmla="*/ 19178 w 1518348"/>
              <a:gd name="connsiteY0" fmla="*/ 6858000 h 6858000"/>
              <a:gd name="connsiteX1" fmla="*/ 0 w 1518348"/>
              <a:gd name="connsiteY1" fmla="*/ 6858000 h 6858000"/>
              <a:gd name="connsiteX2" fmla="*/ 241394 w 1518348"/>
              <a:gd name="connsiteY2" fmla="*/ 6638611 h 6858000"/>
              <a:gd name="connsiteX3" fmla="*/ 1493356 w 1518348"/>
              <a:gd name="connsiteY3" fmla="*/ 4142424 h 6858000"/>
              <a:gd name="connsiteX4" fmla="*/ 282053 w 1518348"/>
              <a:gd name="connsiteY4" fmla="*/ 26474 h 6858000"/>
              <a:gd name="connsiteX5" fmla="*/ 256233 w 1518348"/>
              <a:gd name="connsiteY5" fmla="*/ 0 h 6858000"/>
              <a:gd name="connsiteX6" fmla="*/ 273463 w 1518348"/>
              <a:gd name="connsiteY6" fmla="*/ 0 h 6858000"/>
              <a:gd name="connsiteX7" fmla="*/ 300199 w 1518348"/>
              <a:gd name="connsiteY7" fmla="*/ 27414 h 6858000"/>
              <a:gd name="connsiteX8" fmla="*/ 1511501 w 1518348"/>
              <a:gd name="connsiteY8" fmla="*/ 4143362 h 6858000"/>
              <a:gd name="connsiteX9" fmla="*/ 259539 w 1518348"/>
              <a:gd name="connsiteY9" fmla="*/ 66395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8348" h="6858000">
                <a:moveTo>
                  <a:pt x="19178" y="6858000"/>
                </a:moveTo>
                <a:lnTo>
                  <a:pt x="0" y="6858000"/>
                </a:lnTo>
                <a:lnTo>
                  <a:pt x="241394" y="6638611"/>
                </a:lnTo>
                <a:cubicBezTo>
                  <a:pt x="909582" y="6009084"/>
                  <a:pt x="1445892" y="5323498"/>
                  <a:pt x="1493356" y="4142424"/>
                </a:cubicBezTo>
                <a:cubicBezTo>
                  <a:pt x="1560655" y="2467784"/>
                  <a:pt x="1130049" y="962858"/>
                  <a:pt x="282053" y="26474"/>
                </a:cubicBezTo>
                <a:lnTo>
                  <a:pt x="256233" y="0"/>
                </a:lnTo>
                <a:lnTo>
                  <a:pt x="273463" y="0"/>
                </a:lnTo>
                <a:lnTo>
                  <a:pt x="300199" y="27414"/>
                </a:lnTo>
                <a:cubicBezTo>
                  <a:pt x="1148195" y="963796"/>
                  <a:pt x="1578800" y="2468723"/>
                  <a:pt x="1511501" y="4143362"/>
                </a:cubicBezTo>
                <a:cubicBezTo>
                  <a:pt x="1464037" y="5324436"/>
                  <a:pt x="927728" y="6010023"/>
                  <a:pt x="259539" y="6639549"/>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58AD6E-B070-4640-AA07-87E208983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9994386" y="0"/>
            <a:ext cx="1644534" cy="6858000"/>
          </a:xfrm>
          <a:custGeom>
            <a:avLst/>
            <a:gdLst>
              <a:gd name="connsiteX0" fmla="*/ 135252 w 1644534"/>
              <a:gd name="connsiteY0" fmla="*/ 6858000 h 6858000"/>
              <a:gd name="connsiteX1" fmla="*/ 101819 w 1644534"/>
              <a:gd name="connsiteY1" fmla="*/ 6858000 h 6858000"/>
              <a:gd name="connsiteX2" fmla="*/ 437240 w 1644534"/>
              <a:gd name="connsiteY2" fmla="*/ 6542447 h 6858000"/>
              <a:gd name="connsiteX3" fmla="*/ 1611101 w 1644534"/>
              <a:gd name="connsiteY3" fmla="*/ 4079318 h 6858000"/>
              <a:gd name="connsiteX4" fmla="*/ 21961 w 1644534"/>
              <a:gd name="connsiteY4" fmla="*/ 16892 h 6858000"/>
              <a:gd name="connsiteX5" fmla="*/ 0 w 1644534"/>
              <a:gd name="connsiteY5" fmla="*/ 0 h 6858000"/>
              <a:gd name="connsiteX6" fmla="*/ 33433 w 1644534"/>
              <a:gd name="connsiteY6" fmla="*/ 0 h 6858000"/>
              <a:gd name="connsiteX7" fmla="*/ 55394 w 1644534"/>
              <a:gd name="connsiteY7" fmla="*/ 16892 h 6858000"/>
              <a:gd name="connsiteX8" fmla="*/ 1644534 w 1644534"/>
              <a:gd name="connsiteY8" fmla="*/ 4079318 h 6858000"/>
              <a:gd name="connsiteX9" fmla="*/ 470673 w 1644534"/>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4534" h="6858000">
                <a:moveTo>
                  <a:pt x="135252" y="6858000"/>
                </a:moveTo>
                <a:lnTo>
                  <a:pt x="101819" y="6858000"/>
                </a:lnTo>
                <a:lnTo>
                  <a:pt x="437240" y="6542447"/>
                </a:lnTo>
                <a:cubicBezTo>
                  <a:pt x="1092531" y="5903717"/>
                  <a:pt x="1611101" y="5217633"/>
                  <a:pt x="1611101" y="4079318"/>
                </a:cubicBezTo>
                <a:cubicBezTo>
                  <a:pt x="1611101" y="2357705"/>
                  <a:pt x="1041580" y="850004"/>
                  <a:pt x="21961" y="16892"/>
                </a:cubicBezTo>
                <a:lnTo>
                  <a:pt x="0" y="0"/>
                </a:lnTo>
                <a:lnTo>
                  <a:pt x="33433" y="0"/>
                </a:lnTo>
                <a:lnTo>
                  <a:pt x="55394" y="16892"/>
                </a:lnTo>
                <a:cubicBezTo>
                  <a:pt x="1075012" y="850004"/>
                  <a:pt x="1644534" y="2357705"/>
                  <a:pt x="1644534" y="4079318"/>
                </a:cubicBezTo>
                <a:cubicBezTo>
                  <a:pt x="1644534" y="5217633"/>
                  <a:pt x="1125963" y="5903717"/>
                  <a:pt x="470673" y="654244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aphicFrame>
        <p:nvGraphicFramePr>
          <p:cNvPr id="5" name="Content Placeholder 2">
            <a:extLst>
              <a:ext uri="{FF2B5EF4-FFF2-40B4-BE49-F238E27FC236}">
                <a16:creationId xmlns:a16="http://schemas.microsoft.com/office/drawing/2014/main" id="{F61C6C38-A2E1-44FD-93DF-33E0DF566011}"/>
              </a:ext>
            </a:extLst>
          </p:cNvPr>
          <p:cNvGraphicFramePr>
            <a:graphicFrameLocks noGrp="1"/>
          </p:cNvGraphicFramePr>
          <p:nvPr>
            <p:ph idx="1"/>
            <p:extLst>
              <p:ext uri="{D42A27DB-BD31-4B8C-83A1-F6EECF244321}">
                <p14:modId xmlns:p14="http://schemas.microsoft.com/office/powerpoint/2010/main" val="3211941063"/>
              </p:ext>
            </p:extLst>
          </p:nvPr>
        </p:nvGraphicFramePr>
        <p:xfrm>
          <a:off x="1003300" y="1041400"/>
          <a:ext cx="8987802" cy="4549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4342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ACBD85E-A404-45CB-B532-1039E479D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DB1626B1-BAC7-4893-A5AC-620597685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7" name="Freeform: Shape 26">
            <a:extLst>
              <a:ext uri="{FF2B5EF4-FFF2-40B4-BE49-F238E27FC236}">
                <a16:creationId xmlns:a16="http://schemas.microsoft.com/office/drawing/2014/main" id="{D64E9910-51FE-45BF-973D-9D2401FD3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5" name="Picture 4" descr="Chart, sunburst chart&#10;&#10;Description automatically generated">
            <a:extLst>
              <a:ext uri="{FF2B5EF4-FFF2-40B4-BE49-F238E27FC236}">
                <a16:creationId xmlns:a16="http://schemas.microsoft.com/office/drawing/2014/main" id="{E5557EC1-E471-4830-B305-F4B0897700A1}"/>
              </a:ext>
            </a:extLst>
          </p:cNvPr>
          <p:cNvPicPr>
            <a:picLocks noChangeAspect="1"/>
          </p:cNvPicPr>
          <p:nvPr/>
        </p:nvPicPr>
        <p:blipFill>
          <a:blip r:embed="rId2"/>
          <a:stretch>
            <a:fillRect/>
          </a:stretch>
        </p:blipFill>
        <p:spPr>
          <a:xfrm>
            <a:off x="2919328" y="314148"/>
            <a:ext cx="6438661" cy="6020149"/>
          </a:xfrm>
          <a:prstGeom prst="rect">
            <a:avLst/>
          </a:prstGeom>
        </p:spPr>
      </p:pic>
    </p:spTree>
    <p:extLst>
      <p:ext uri="{BB962C8B-B14F-4D97-AF65-F5344CB8AC3E}">
        <p14:creationId xmlns:p14="http://schemas.microsoft.com/office/powerpoint/2010/main" val="356235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E3FDA998-F843-41A0-9061-68CD95041A0D}"/>
              </a:ext>
            </a:extLst>
          </p:cNvPr>
          <p:cNvPicPr>
            <a:picLocks noGrp="1" noChangeAspect="1"/>
          </p:cNvPicPr>
          <p:nvPr>
            <p:ph type="pic" idx="1"/>
          </p:nvPr>
        </p:nvPicPr>
        <p:blipFill>
          <a:blip r:embed="rId3"/>
          <a:srcRect l="8759" r="8759"/>
          <a:stretch>
            <a:fillRect/>
          </a:stretch>
        </p:blipFill>
        <p:spPr>
          <a:xfrm>
            <a:off x="147356" y="558210"/>
            <a:ext cx="7877421" cy="6055242"/>
          </a:xfrm>
        </p:spPr>
      </p:pic>
      <p:sp>
        <p:nvSpPr>
          <p:cNvPr id="3" name="Title 2">
            <a:extLst>
              <a:ext uri="{FF2B5EF4-FFF2-40B4-BE49-F238E27FC236}">
                <a16:creationId xmlns:a16="http://schemas.microsoft.com/office/drawing/2014/main" id="{DD8F62BF-B567-49B4-A8FB-E76CF7D06CEC}"/>
              </a:ext>
            </a:extLst>
          </p:cNvPr>
          <p:cNvSpPr>
            <a:spLocks noGrp="1"/>
          </p:cNvSpPr>
          <p:nvPr>
            <p:ph type="title"/>
          </p:nvPr>
        </p:nvSpPr>
        <p:spPr>
          <a:xfrm>
            <a:off x="8473696" y="761999"/>
            <a:ext cx="3227832" cy="1907141"/>
          </a:xfrm>
        </p:spPr>
        <p:txBody>
          <a:bodyPr/>
          <a:lstStyle/>
          <a:p>
            <a:pPr algn="ctr"/>
            <a:r>
              <a:rPr lang="en-US"/>
              <a:t>Candlestick Chart</a:t>
            </a:r>
            <a:br>
              <a:rPr lang="en-US"/>
            </a:br>
            <a:endParaRPr lang="en-US"/>
          </a:p>
        </p:txBody>
      </p:sp>
      <p:sp>
        <p:nvSpPr>
          <p:cNvPr id="4" name="Text Placeholder 3">
            <a:extLst>
              <a:ext uri="{FF2B5EF4-FFF2-40B4-BE49-F238E27FC236}">
                <a16:creationId xmlns:a16="http://schemas.microsoft.com/office/drawing/2014/main" id="{DE8A6E86-611E-4CD9-B2EA-FB5DC060D2D2}"/>
              </a:ext>
            </a:extLst>
          </p:cNvPr>
          <p:cNvSpPr>
            <a:spLocks noGrp="1"/>
          </p:cNvSpPr>
          <p:nvPr>
            <p:ph type="body" sz="half" idx="2"/>
          </p:nvPr>
        </p:nvSpPr>
        <p:spPr>
          <a:xfrm>
            <a:off x="8155172" y="2254102"/>
            <a:ext cx="3549148" cy="3841898"/>
          </a:xfrm>
        </p:spPr>
        <p:txBody>
          <a:bodyPr vert="horz" lIns="109728" tIns="109728" rIns="109728" bIns="91440" rtlCol="0" anchor="t">
            <a:normAutofit/>
          </a:bodyPr>
          <a:lstStyle/>
          <a:p>
            <a:pPr>
              <a:buFont typeface="Arial" panose="020B0604020202020204" pitchFamily="34" charset="0"/>
              <a:buChar char="•"/>
            </a:pPr>
            <a:r>
              <a:rPr lang="en-US" dirty="0">
                <a:solidFill>
                  <a:srgbClr val="111111"/>
                </a:solidFill>
                <a:latin typeface="SourceSansPro"/>
              </a:rPr>
              <a:t> </a:t>
            </a:r>
            <a:r>
              <a:rPr lang="en-US" sz="2000" dirty="0">
                <a:solidFill>
                  <a:srgbClr val="111111"/>
                </a:solidFill>
                <a:latin typeface="SourceSansPro"/>
              </a:rPr>
              <a:t>Used</a:t>
            </a:r>
            <a:r>
              <a:rPr lang="en-US" sz="2000" b="0" i="0" dirty="0">
                <a:solidFill>
                  <a:srgbClr val="111111"/>
                </a:solidFill>
                <a:effectLst/>
                <a:latin typeface="SourceSansPro"/>
              </a:rPr>
              <a:t> by traders to determine possible price movement based on past patterns.</a:t>
            </a:r>
          </a:p>
          <a:p>
            <a:pPr>
              <a:buFont typeface="Arial" panose="020B0604020202020204" pitchFamily="34" charset="0"/>
              <a:buChar char="•"/>
            </a:pPr>
            <a:r>
              <a:rPr lang="en-US" sz="2000" dirty="0">
                <a:solidFill>
                  <a:srgbClr val="111111"/>
                </a:solidFill>
                <a:latin typeface="SourceSansPro"/>
              </a:rPr>
              <a:t> They</a:t>
            </a:r>
            <a:r>
              <a:rPr lang="en-US" sz="2000" b="0" i="0" dirty="0">
                <a:solidFill>
                  <a:srgbClr val="111111"/>
                </a:solidFill>
                <a:effectLst/>
                <a:latin typeface="SourceSansPro"/>
              </a:rPr>
              <a:t> show four price points (open, close, high, and low) throughout the period the trader specifies.</a:t>
            </a:r>
          </a:p>
          <a:p>
            <a:endParaRPr lang="en-US" dirty="0"/>
          </a:p>
        </p:txBody>
      </p:sp>
    </p:spTree>
    <p:extLst>
      <p:ext uri="{BB962C8B-B14F-4D97-AF65-F5344CB8AC3E}">
        <p14:creationId xmlns:p14="http://schemas.microsoft.com/office/powerpoint/2010/main" val="4255468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Freeform: Shape 7">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9">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6" name="Freeform: Shape 11">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7" name="Freeform: Shape 13">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8" name="Freeform: Shape 15">
            <a:extLst>
              <a:ext uri="{FF2B5EF4-FFF2-40B4-BE49-F238E27FC236}">
                <a16:creationId xmlns:a16="http://schemas.microsoft.com/office/drawing/2014/main" id="{AF50A80E-5DCB-4320-9947-73BF2D6F0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17">
            <a:extLst>
              <a:ext uri="{FF2B5EF4-FFF2-40B4-BE49-F238E27FC236}">
                <a16:creationId xmlns:a16="http://schemas.microsoft.com/office/drawing/2014/main" id="{4E9C9717-43F9-44EA-9215-3F2D15B1C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40" name="Freeform: Shape 19">
            <a:extLst>
              <a:ext uri="{FF2B5EF4-FFF2-40B4-BE49-F238E27FC236}">
                <a16:creationId xmlns:a16="http://schemas.microsoft.com/office/drawing/2014/main" id="{E66004D1-3DCE-405F-9046-6DE912409E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41" name="Freeform: Shape 21">
            <a:extLst>
              <a:ext uri="{FF2B5EF4-FFF2-40B4-BE49-F238E27FC236}">
                <a16:creationId xmlns:a16="http://schemas.microsoft.com/office/drawing/2014/main" id="{D1319957-918B-4BBC-B357-957813808C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42" name="Rectangle 23">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43" name="Group 25">
            <a:extLst>
              <a:ext uri="{FF2B5EF4-FFF2-40B4-BE49-F238E27FC236}">
                <a16:creationId xmlns:a16="http://schemas.microsoft.com/office/drawing/2014/main" id="{54E5F18F-9D70-4BE5-8A38-603463EE84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6" y="0"/>
            <a:ext cx="10678291" cy="6858000"/>
            <a:chOff x="547626" y="0"/>
            <a:chExt cx="10678291" cy="6858000"/>
          </a:xfrm>
        </p:grpSpPr>
        <p:sp>
          <p:nvSpPr>
            <p:cNvPr id="44" name="Freeform: Shape 26">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27">
              <a:extLst>
                <a:ext uri="{FF2B5EF4-FFF2-40B4-BE49-F238E27FC236}">
                  <a16:creationId xmlns:a16="http://schemas.microsoft.com/office/drawing/2014/main" id="{00981015-32A2-4B76-9F2E-0A8D6EC8E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46" name="Freeform: Shape 28">
              <a:extLst>
                <a:ext uri="{FF2B5EF4-FFF2-40B4-BE49-F238E27FC236}">
                  <a16:creationId xmlns:a16="http://schemas.microsoft.com/office/drawing/2014/main" id="{D38532F4-8B67-47B7-B58A-5DD3E1BE5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6092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47" name="Freeform: Shape 29">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2672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6E37E2DD-C7FE-4D6C-8F1D-5031E96A7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7618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3" name="Freeform: Shape 32">
              <a:extLst>
                <a:ext uri="{FF2B5EF4-FFF2-40B4-BE49-F238E27FC236}">
                  <a16:creationId xmlns:a16="http://schemas.microsoft.com/office/drawing/2014/main" id="{778B68BA-AB87-4EB5-97C2-F1F304E1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449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450E573A-D477-49E5-AA9A-13C4734D62EB}"/>
              </a:ext>
            </a:extLst>
          </p:cNvPr>
          <p:cNvSpPr>
            <a:spLocks noGrp="1"/>
          </p:cNvSpPr>
          <p:nvPr>
            <p:ph type="title"/>
          </p:nvPr>
        </p:nvSpPr>
        <p:spPr>
          <a:xfrm>
            <a:off x="2190750" y="1346268"/>
            <a:ext cx="7810500" cy="3125338"/>
          </a:xfrm>
        </p:spPr>
        <p:txBody>
          <a:bodyPr vert="horz" lIns="109728" tIns="109728" rIns="109728" bIns="91440" rtlCol="0" anchor="b">
            <a:normAutofit/>
          </a:bodyPr>
          <a:lstStyle/>
          <a:p>
            <a:pPr algn="ctr">
              <a:lnSpc>
                <a:spcPct val="120000"/>
              </a:lnSpc>
            </a:pPr>
            <a:endParaRPr lang="en-US" sz="7200">
              <a:solidFill>
                <a:schemeClr val="tx1">
                  <a:lumMod val="85000"/>
                  <a:lumOff val="15000"/>
                </a:schemeClr>
              </a:solidFill>
            </a:endParaRPr>
          </a:p>
        </p:txBody>
      </p:sp>
      <p:pic>
        <p:nvPicPr>
          <p:cNvPr id="5" name="Picture 4" descr="Chart, histogram&#10;&#10;Description automatically generated">
            <a:extLst>
              <a:ext uri="{FF2B5EF4-FFF2-40B4-BE49-F238E27FC236}">
                <a16:creationId xmlns:a16="http://schemas.microsoft.com/office/drawing/2014/main" id="{06BFC2B8-F6EF-4314-BC12-340BDFA04C73}"/>
              </a:ext>
            </a:extLst>
          </p:cNvPr>
          <p:cNvPicPr>
            <a:picLocks noChangeAspect="1"/>
          </p:cNvPicPr>
          <p:nvPr/>
        </p:nvPicPr>
        <p:blipFill>
          <a:blip r:embed="rId2"/>
          <a:stretch>
            <a:fillRect/>
          </a:stretch>
        </p:blipFill>
        <p:spPr>
          <a:xfrm>
            <a:off x="1748211" y="357270"/>
            <a:ext cx="8311739" cy="6143460"/>
          </a:xfrm>
          <a:prstGeom prst="rect">
            <a:avLst/>
          </a:prstGeom>
        </p:spPr>
      </p:pic>
    </p:spTree>
    <p:extLst>
      <p:ext uri="{BB962C8B-B14F-4D97-AF65-F5344CB8AC3E}">
        <p14:creationId xmlns:p14="http://schemas.microsoft.com/office/powerpoint/2010/main" val="4172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0">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0" name="Freeform: Shape 22">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1" name="Freeform: Shape 24">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2" name="Freeform: Shape 26">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53042676-2B5A-4EF8-9349-F0A904F70466}"/>
              </a:ext>
            </a:extLst>
          </p:cNvPr>
          <p:cNvSpPr>
            <a:spLocks noGrp="1"/>
          </p:cNvSpPr>
          <p:nvPr>
            <p:ph type="title"/>
          </p:nvPr>
        </p:nvSpPr>
        <p:spPr>
          <a:xfrm>
            <a:off x="2130202" y="644931"/>
            <a:ext cx="7385938" cy="747934"/>
          </a:xfrm>
        </p:spPr>
        <p:txBody>
          <a:bodyPr anchor="b">
            <a:normAutofit fontScale="90000"/>
          </a:bodyPr>
          <a:lstStyle/>
          <a:p>
            <a:pPr algn="ctr"/>
            <a:r>
              <a:rPr lang="en-US"/>
              <a:t>Let’s get technical</a:t>
            </a:r>
          </a:p>
        </p:txBody>
      </p:sp>
      <p:sp>
        <p:nvSpPr>
          <p:cNvPr id="3" name="Content Placeholder 2">
            <a:extLst>
              <a:ext uri="{FF2B5EF4-FFF2-40B4-BE49-F238E27FC236}">
                <a16:creationId xmlns:a16="http://schemas.microsoft.com/office/drawing/2014/main" id="{99968665-22A5-461C-B137-8A68131180BE}"/>
              </a:ext>
            </a:extLst>
          </p:cNvPr>
          <p:cNvSpPr>
            <a:spLocks noGrp="1"/>
          </p:cNvSpPr>
          <p:nvPr>
            <p:ph idx="1"/>
          </p:nvPr>
        </p:nvSpPr>
        <p:spPr>
          <a:xfrm>
            <a:off x="616688" y="1977656"/>
            <a:ext cx="5672794" cy="3732028"/>
          </a:xfrm>
        </p:spPr>
        <p:txBody>
          <a:bodyPr vert="horz" lIns="109728" tIns="109728" rIns="109728" bIns="91440" rtlCol="0" anchor="t">
            <a:normAutofit/>
          </a:bodyPr>
          <a:lstStyle/>
          <a:p>
            <a:pPr>
              <a:lnSpc>
                <a:spcPct val="130000"/>
              </a:lnSpc>
            </a:pPr>
            <a:r>
              <a:rPr lang="en-US" sz="1300">
                <a:ea typeface="+mn-lt"/>
                <a:cs typeface="+mn-lt"/>
              </a:rPr>
              <a:t>Thin client: HTML website page.</a:t>
            </a:r>
            <a:endParaRPr lang="en-US"/>
          </a:p>
          <a:p>
            <a:pPr>
              <a:lnSpc>
                <a:spcPct val="130000"/>
              </a:lnSpc>
            </a:pPr>
            <a:r>
              <a:rPr lang="en-US" sz="1300">
                <a:ea typeface="+mn-lt"/>
                <a:cs typeface="+mn-lt"/>
              </a:rPr>
              <a:t>Interaction in the thin client: The user enters the stocks and date ranges that they would like to see</a:t>
            </a:r>
            <a:endParaRPr lang="en-US"/>
          </a:p>
          <a:p>
            <a:pPr>
              <a:lnSpc>
                <a:spcPct val="130000"/>
              </a:lnSpc>
            </a:pPr>
            <a:r>
              <a:rPr lang="en-US" sz="1300"/>
              <a:t>Thick server: Python code that pulls-in the information from the HTML website. Turns the input into the variables and sends the info thru the ETL process to pull the requested data.</a:t>
            </a:r>
            <a:endParaRPr lang="en-US" sz="1300">
              <a:ea typeface="Meiryo"/>
            </a:endParaRPr>
          </a:p>
          <a:p>
            <a:pPr>
              <a:lnSpc>
                <a:spcPct val="130000"/>
              </a:lnSpc>
            </a:pPr>
            <a:r>
              <a:rPr lang="en-US" sz="1300"/>
              <a:t>Response from thick server: The requested stock information in graph form presented to the user.</a:t>
            </a:r>
            <a:endParaRPr lang="en-US" sz="1300">
              <a:ea typeface="Meiryo"/>
            </a:endParaRPr>
          </a:p>
          <a:p>
            <a:pPr>
              <a:lnSpc>
                <a:spcPct val="130000"/>
              </a:lnSpc>
            </a:pPr>
            <a:endParaRPr lang="en-US" sz="1300"/>
          </a:p>
          <a:p>
            <a:pPr>
              <a:lnSpc>
                <a:spcPct val="130000"/>
              </a:lnSpc>
            </a:pPr>
            <a:endParaRPr lang="en-US" sz="1300"/>
          </a:p>
          <a:p>
            <a:pPr>
              <a:lnSpc>
                <a:spcPct val="130000"/>
              </a:lnSpc>
            </a:pPr>
            <a:endParaRPr lang="en-US" sz="1300"/>
          </a:p>
          <a:p>
            <a:pPr>
              <a:lnSpc>
                <a:spcPct val="130000"/>
              </a:lnSpc>
            </a:pPr>
            <a:endParaRPr lang="en-US" sz="1300"/>
          </a:p>
        </p:txBody>
      </p:sp>
      <p:pic>
        <p:nvPicPr>
          <p:cNvPr id="5" name="Picture 4" descr="Diagram&#10;&#10;Description automatically generated">
            <a:extLst>
              <a:ext uri="{FF2B5EF4-FFF2-40B4-BE49-F238E27FC236}">
                <a16:creationId xmlns:a16="http://schemas.microsoft.com/office/drawing/2014/main" id="{422B2A5A-E8EB-4EAA-B43B-A51AD338CB58}"/>
              </a:ext>
            </a:extLst>
          </p:cNvPr>
          <p:cNvPicPr>
            <a:picLocks noChangeAspect="1"/>
          </p:cNvPicPr>
          <p:nvPr/>
        </p:nvPicPr>
        <p:blipFill>
          <a:blip r:embed="rId3"/>
          <a:stretch>
            <a:fillRect/>
          </a:stretch>
        </p:blipFill>
        <p:spPr>
          <a:xfrm>
            <a:off x="6289482" y="1977656"/>
            <a:ext cx="5091213" cy="3487479"/>
          </a:xfrm>
          <a:prstGeom prst="rect">
            <a:avLst/>
          </a:prstGeom>
        </p:spPr>
      </p:pic>
    </p:spTree>
    <p:extLst>
      <p:ext uri="{BB962C8B-B14F-4D97-AF65-F5344CB8AC3E}">
        <p14:creationId xmlns:p14="http://schemas.microsoft.com/office/powerpoint/2010/main" val="2512338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9E916F-C3CF-49AE-BDA0-10738DD33BDD}"/>
              </a:ext>
            </a:extLst>
          </p:cNvPr>
          <p:cNvSpPr>
            <a:spLocks noGrp="1"/>
          </p:cNvSpPr>
          <p:nvPr>
            <p:ph type="title"/>
          </p:nvPr>
        </p:nvSpPr>
        <p:spPr/>
        <p:txBody>
          <a:bodyPr>
            <a:normAutofit/>
          </a:bodyPr>
          <a:lstStyle/>
          <a:p>
            <a:r>
              <a:rPr lang="en-US"/>
              <a:t>Sources</a:t>
            </a:r>
          </a:p>
        </p:txBody>
      </p:sp>
      <p:sp>
        <p:nvSpPr>
          <p:cNvPr id="5" name="Content Placeholder 4">
            <a:extLst>
              <a:ext uri="{FF2B5EF4-FFF2-40B4-BE49-F238E27FC236}">
                <a16:creationId xmlns:a16="http://schemas.microsoft.com/office/drawing/2014/main" id="{724D7138-312D-4B90-9492-633563AB5F31}"/>
              </a:ext>
            </a:extLst>
          </p:cNvPr>
          <p:cNvSpPr>
            <a:spLocks noGrp="1"/>
          </p:cNvSpPr>
          <p:nvPr>
            <p:ph idx="1"/>
          </p:nvPr>
        </p:nvSpPr>
        <p:spPr/>
        <p:txBody>
          <a:bodyPr/>
          <a:lstStyle/>
          <a:p>
            <a:r>
              <a:rPr lang="en-US" dirty="0">
                <a:hlinkClick r:id="rId2"/>
              </a:rPr>
              <a:t>https://www.investopedia.com/</a:t>
            </a:r>
            <a:endParaRPr lang="en-US" dirty="0"/>
          </a:p>
          <a:p>
            <a:r>
              <a:rPr lang="en-US" dirty="0" err="1"/>
              <a:t>yfinance</a:t>
            </a:r>
            <a:endParaRPr lang="en-US" dirty="0"/>
          </a:p>
          <a:p>
            <a:r>
              <a:rPr lang="en-US" dirty="0">
                <a:hlinkClick r:id="rId3"/>
              </a:rPr>
              <a:t>www.wsj.com</a:t>
            </a:r>
            <a:endParaRPr lang="en-US" dirty="0"/>
          </a:p>
          <a:p>
            <a:endParaRPr lang="en-US" dirty="0"/>
          </a:p>
        </p:txBody>
      </p:sp>
    </p:spTree>
    <p:extLst>
      <p:ext uri="{BB962C8B-B14F-4D97-AF65-F5344CB8AC3E}">
        <p14:creationId xmlns:p14="http://schemas.microsoft.com/office/powerpoint/2010/main" val="3689156244"/>
      </p:ext>
    </p:extLst>
  </p:cSld>
  <p:clrMapOvr>
    <a:masterClrMapping/>
  </p:clrMapOvr>
</p:sld>
</file>

<file path=ppt/theme/theme1.xml><?xml version="1.0" encoding="utf-8"?>
<a:theme xmlns:a="http://schemas.openxmlformats.org/drawingml/2006/main" name="SketchLinesVTI">
  <a:themeElements>
    <a:clrScheme name="AnalogousFromRegularSeedLeftStep">
      <a:dk1>
        <a:srgbClr val="000000"/>
      </a:dk1>
      <a:lt1>
        <a:srgbClr val="FFFFFF"/>
      </a:lt1>
      <a:dk2>
        <a:srgbClr val="352441"/>
      </a:dk2>
      <a:lt2>
        <a:srgbClr val="E2E8E7"/>
      </a:lt2>
      <a:accent1>
        <a:srgbClr val="D33D56"/>
      </a:accent1>
      <a:accent2>
        <a:srgbClr val="C12B83"/>
      </a:accent2>
      <a:accent3>
        <a:srgbClr val="D33DD3"/>
      </a:accent3>
      <a:accent4>
        <a:srgbClr val="822BC1"/>
      </a:accent4>
      <a:accent5>
        <a:srgbClr val="563DD3"/>
      </a:accent5>
      <a:accent6>
        <a:srgbClr val="2B51C1"/>
      </a:accent6>
      <a:hlink>
        <a:srgbClr val="309282"/>
      </a:hlink>
      <a:folHlink>
        <a:srgbClr val="7F7F7F"/>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721</Words>
  <Application>Microsoft Office PowerPoint</Application>
  <PresentationFormat>Widescreen</PresentationFormat>
  <Paragraphs>46</Paragraphs>
  <Slides>9</Slides>
  <Notes>6</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SketchLinesVTI</vt:lpstr>
      <vt:lpstr>The S&amp;P 500</vt:lpstr>
      <vt:lpstr>What is that?</vt:lpstr>
      <vt:lpstr>PowerPoint Presentation</vt:lpstr>
      <vt:lpstr>PowerPoint Presentation</vt:lpstr>
      <vt:lpstr>PowerPoint Presentation</vt:lpstr>
      <vt:lpstr>Candlestick Chart </vt:lpstr>
      <vt:lpstr>PowerPoint Presentation</vt:lpstr>
      <vt:lpstr>Let’s get technical</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S&amp;P 500</dc:title>
  <dc:creator>Elisa Trejo</dc:creator>
  <cp:lastModifiedBy>Elisa Trejo</cp:lastModifiedBy>
  <cp:revision>2</cp:revision>
  <dcterms:created xsi:type="dcterms:W3CDTF">2020-10-14T21:11:36Z</dcterms:created>
  <dcterms:modified xsi:type="dcterms:W3CDTF">2020-10-18T13:50:52Z</dcterms:modified>
</cp:coreProperties>
</file>